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1371600"/>
            <a:ext cx="5486400" cy="5486400"/>
          </a:xfrm>
          <a:prstGeom prst="ellipse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86600" y="2971800"/>
            <a:ext cx="2286000" cy="2286000"/>
          </a:xfrm>
          <a:prstGeom prst="ellipse">
            <a:avLst/>
          </a:prstGeom>
          <a:solidFill>
            <a:srgbClr val="FF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信息服务APP的适老化设计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与多模态交互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E0B2"/>
                </a:solidFill>
              </a:rPr>
              <a:t>核心系统：小浙 — 适老化浙里办长辈版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E0B2"/>
                </a:solidFill>
              </a:rPr>
              <a:t>语音对话 · 代理填表 · 人脸认证 · 政务场景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2920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成果展示答辩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成果全景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B2"/>
                </a:solidFill>
              </a:rPr>
              <a:t>信息服务APP的适老化设计与多模态交互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0292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D00"/>
                </a:solidFill>
              </a:rPr>
              <a:t>项目成果一览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20240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4462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可运行原型：17个页面，4个核心政务场景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340864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49424"/>
            <a:ext cx="4462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核心系统：「小浙」适老化浙里办长辈版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61488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670048"/>
            <a:ext cx="4462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核心能力：语音对话→理解意图→代填执行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182112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90672"/>
            <a:ext cx="4462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4场景：登录·医保缴费·社保查询·公告浏览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02736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11296"/>
            <a:ext cx="4462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手机浏览器直接可用，无需安装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023359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931920"/>
            <a:ext cx="4462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前端 Flutter Web + 后端 FastAPI + DeepSeek-V3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443983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352544"/>
            <a:ext cx="4462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讯飞 ASR/TTS + MediaPipe 本地人脸检测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57575"/>
                </a:solidFill>
              </a:rPr>
              <a:t>界面全家福（截图区）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1691640"/>
            <a:ext cx="2743200" cy="2194560"/>
          </a:xfrm>
          <a:prstGeom prst="rect">
            <a:avLst/>
          </a:prstGeom>
          <a:solidFill>
            <a:srgbClr val="E8E8E8"/>
          </a:solidFill>
          <a:ln w="63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57575"/>
                </a:solidFill>
              </a:rPr>
              <a:t>长辈版首页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BDBD"/>
                </a:solidFill>
              </a:rPr>
              <a:t>[ 可替换为截图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1691640"/>
            <a:ext cx="2743200" cy="2194560"/>
          </a:xfrm>
          <a:prstGeom prst="rect">
            <a:avLst/>
          </a:prstGeom>
          <a:solidFill>
            <a:srgbClr val="E8E8E8"/>
          </a:solidFill>
          <a:ln w="63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57575"/>
                </a:solidFill>
              </a:rPr>
              <a:t>代理面板弹出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BDBD"/>
                </a:solidFill>
              </a:rPr>
              <a:t>[ 可替换为截图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4114800"/>
            <a:ext cx="2743200" cy="2194560"/>
          </a:xfrm>
          <a:prstGeom prst="rect">
            <a:avLst/>
          </a:prstGeom>
          <a:solidFill>
            <a:srgbClr val="E8E8E8"/>
          </a:solidFill>
          <a:ln w="63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57575"/>
                </a:solidFill>
              </a:rPr>
              <a:t>授权卡片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BDBD"/>
                </a:solidFill>
              </a:rPr>
              <a:t>[ 可替换为截图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4114800"/>
            <a:ext cx="2743200" cy="2194560"/>
          </a:xfrm>
          <a:prstGeom prst="rect">
            <a:avLst/>
          </a:prstGeom>
          <a:solidFill>
            <a:srgbClr val="E8E8E8"/>
          </a:solidFill>
          <a:ln w="63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57575"/>
                </a:solidFill>
              </a:rPr>
              <a:t>查询结果大字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BDBD"/>
                </a:solidFill>
              </a:rPr>
              <a:t>[ 可替换为截图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57575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核心创新：受控响应型代理框架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B2"/>
                </a:solidFill>
              </a:rPr>
              <a:t>三原则固化为架构约束，从对话约定升级为可验证工程性质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566160" cy="5029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原则一
确定性隔离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1984248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3154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高风险操作永不作为 AI 工具注册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761488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3154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代码层物理隔离，提示词注入无效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38728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3154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政务数据不离开合规环境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5661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32588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原则二
最小授权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78308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984248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874519"/>
            <a:ext cx="3154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L1/L2/L3 三级分级授权矩阵</a:t>
            </a:r>
          </a:p>
        </p:txBody>
      </p:sp>
      <p:sp>
        <p:nvSpPr>
          <p:cNvPr id="20" name="Oval 19"/>
          <p:cNvSpPr/>
          <p:nvPr/>
        </p:nvSpPr>
        <p:spPr>
          <a:xfrm>
            <a:off x="4343400" y="2761488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651760"/>
            <a:ext cx="3154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权限随 WebSocket 会话消亡</a:t>
            </a:r>
          </a:p>
        </p:txBody>
      </p:sp>
      <p:sp>
        <p:nvSpPr>
          <p:cNvPr id="22" name="Oval 21"/>
          <p:cNvSpPr/>
          <p:nvPr/>
        </p:nvSpPr>
        <p:spPr>
          <a:xfrm>
            <a:off x="4343400" y="3538728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429000"/>
            <a:ext cx="3154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每步操作需用户显式确认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280160"/>
            <a:ext cx="356616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32588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原则三
透明可解释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78308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83880" y="1984248"/>
            <a:ext cx="109728" cy="1097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874519"/>
            <a:ext cx="3154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Agent 每步操作实时播报</a:t>
            </a:r>
          </a:p>
        </p:txBody>
      </p:sp>
      <p:sp>
        <p:nvSpPr>
          <p:cNvPr id="29" name="Oval 28"/>
          <p:cNvSpPr/>
          <p:nvPr/>
        </p:nvSpPr>
        <p:spPr>
          <a:xfrm>
            <a:off x="8183880" y="2761488"/>
            <a:ext cx="109728" cy="1097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651760"/>
            <a:ext cx="3154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草稿箱可随时查看/撤销/续填</a:t>
            </a:r>
          </a:p>
        </p:txBody>
      </p:sp>
      <p:sp>
        <p:nvSpPr>
          <p:cNvPr id="31" name="Oval 30"/>
          <p:cNvSpPr/>
          <p:nvPr/>
        </p:nvSpPr>
        <p:spPr>
          <a:xfrm>
            <a:off x="8183880" y="3538728"/>
            <a:ext cx="109728" cy="1097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429000"/>
            <a:ext cx="3154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「代理在做什么」始终可见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486400"/>
            <a:ext cx="11430000" cy="5029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559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信任保障 = 架构约束，而非对话约定 | 协助而非替代，透明而非黑箱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57575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多模态交互设计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B2"/>
                </a:solidFill>
              </a:rPr>
              <a:t>语音·视觉·触控三通道冗余互补，任一退化不影响使用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566160" cy="4572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语音通道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3566160" cy="3474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64792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57575"/>
                </a:solidFill>
              </a:rPr>
              <a:t>讯飞 ASR/TTS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2286000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76272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实时语音识别，流式转写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944368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34639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自然语言理解意图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602735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93007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TTS 播报操作结果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261103"/>
            <a:ext cx="109728" cy="109728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51375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MicButton 悬浮按钮随时可唤起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280160"/>
            <a:ext cx="356616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3258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视觉通道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737360"/>
            <a:ext cx="3566160" cy="3474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764792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57575"/>
                </a:solidFill>
              </a:rPr>
              <a:t>MediaPipe 本地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084831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43400" y="2286000"/>
            <a:ext cx="109728" cy="1097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176272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人脸检测完全本地，零网络依赖</a:t>
            </a:r>
          </a:p>
        </p:txBody>
      </p:sp>
      <p:sp>
        <p:nvSpPr>
          <p:cNvPr id="26" name="Oval 25"/>
          <p:cNvSpPr/>
          <p:nvPr/>
        </p:nvSpPr>
        <p:spPr>
          <a:xfrm>
            <a:off x="4343400" y="2944368"/>
            <a:ext cx="109728" cy="1097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2834639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刷脸登录无需额外 SDK</a:t>
            </a:r>
          </a:p>
        </p:txBody>
      </p:sp>
      <p:sp>
        <p:nvSpPr>
          <p:cNvPr id="28" name="Oval 27"/>
          <p:cNvSpPr/>
          <p:nvPr/>
        </p:nvSpPr>
        <p:spPr>
          <a:xfrm>
            <a:off x="4343400" y="3602735"/>
            <a:ext cx="109728" cy="1097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493007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大字模式，对比度符合 WCAG AA</a:t>
            </a:r>
          </a:p>
        </p:txBody>
      </p:sp>
      <p:sp>
        <p:nvSpPr>
          <p:cNvPr id="30" name="Oval 29"/>
          <p:cNvSpPr/>
          <p:nvPr/>
        </p:nvSpPr>
        <p:spPr>
          <a:xfrm>
            <a:off x="4343400" y="4261103"/>
            <a:ext cx="109728" cy="1097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151375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AgentElementRegistry 高亮定位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280160"/>
            <a:ext cx="356616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3258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触控通道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1737360"/>
            <a:ext cx="3566160" cy="3474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764792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57575"/>
                </a:solidFill>
              </a:rPr>
              <a:t>Flutter手势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2084831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83880" y="2286000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2176272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最小点击区域 48×48 dp</a:t>
            </a:r>
          </a:p>
        </p:txBody>
      </p:sp>
      <p:sp>
        <p:nvSpPr>
          <p:cNvPr id="39" name="Oval 38"/>
          <p:cNvSpPr/>
          <p:nvPr/>
        </p:nvSpPr>
        <p:spPr>
          <a:xfrm>
            <a:off x="8183880" y="2944368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2834639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单步确认，防误触设计</a:t>
            </a:r>
          </a:p>
        </p:txBody>
      </p:sp>
      <p:sp>
        <p:nvSpPr>
          <p:cNvPr id="41" name="Oval 40"/>
          <p:cNvSpPr/>
          <p:nvPr/>
        </p:nvSpPr>
        <p:spPr>
          <a:xfrm>
            <a:off x="8183880" y="3602735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3493007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授权卡片滑动确认</a:t>
            </a:r>
          </a:p>
        </p:txBody>
      </p:sp>
      <p:sp>
        <p:nvSpPr>
          <p:cNvPr id="43" name="Oval 42"/>
          <p:cNvSpPr/>
          <p:nvPr/>
        </p:nvSpPr>
        <p:spPr>
          <a:xfrm>
            <a:off x="8183880" y="4261103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4151375"/>
            <a:ext cx="3154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草稿箱断点续填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486400"/>
            <a:ext cx="11430000" cy="5029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5595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121"/>
                </a:solidFill>
              </a:rPr>
              <a:t>冗余互补设计：感官通道退化（听力/视力下降）时，其余通道自动补偿，确保老年用户始终可用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57575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DEMO 演示：医保缴费全流程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B2"/>
                </a:solidFill>
              </a:rPr>
              <a:t>扫码访问 → 语音唤起 → 代理填表 → 用户确认 → 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182880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316736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1828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783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</a:rPr>
              <a:t>打开长辈版首页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1463040" cy="2743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3317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57575"/>
                </a:solidFill>
              </a:rPr>
              <a:t>扫码或访问 localhost:3080
大字界面，橙色「找小浙帮忙」按钮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256032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D0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280160"/>
            <a:ext cx="182880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79" y="1316736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1691640"/>
            <a:ext cx="1828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1783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</a:rPr>
              <a:t>语音唤起代理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240280"/>
            <a:ext cx="1463040" cy="2743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23317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57575"/>
                </a:solidFill>
              </a:rPr>
              <a:t>点击麦克风按钮
说：「帮我缴医保」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504" y="256032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D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79" y="1280160"/>
            <a:ext cx="182880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9" y="1316736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79" y="1691640"/>
            <a:ext cx="1828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19" y="1783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</a:rPr>
              <a:t>意图理解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2240280"/>
            <a:ext cx="1463040" cy="2743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19" y="23317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57575"/>
                </a:solidFill>
              </a:rPr>
              <a:t>DeepSeek-V3 解析意图
匹配「医保缴费」场景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7023" y="256032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D00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599" y="1280160"/>
            <a:ext cx="182880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19" y="1316736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599" y="1691640"/>
            <a:ext cx="1828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39" y="1783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</a:rPr>
              <a:t>代理面板弹出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79" y="2240280"/>
            <a:ext cx="1463040" cy="2743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39" y="23317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57575"/>
                </a:solidFill>
              </a:rPr>
              <a:t>展示操作步骤预览
用户点击「授权」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544" y="256032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D00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19" y="1280160"/>
            <a:ext cx="182880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1316736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19" y="1691640"/>
            <a:ext cx="1828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59" y="1783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</a:rPr>
              <a:t>代理自动填表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0999" y="2240280"/>
            <a:ext cx="1463040" cy="2743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59" y="23317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57575"/>
                </a:solidFill>
              </a:rPr>
              <a:t>逐字段高亮填写
每步实时播报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6063" y="256032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D00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1280160"/>
            <a:ext cx="182880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1316736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1691640"/>
            <a:ext cx="1828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1783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</a:rPr>
              <a:t>用户最终确认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19" y="2240280"/>
            <a:ext cx="1463040" cy="2743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23317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57575"/>
                </a:solidFill>
              </a:rPr>
              <a:t>展示草稿，用户核对
点击「提交」完成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989320"/>
            <a:ext cx="11521440" cy="45720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0350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6D00"/>
                </a:solidFill>
              </a:rPr>
              <a:t>演示地址：http://localhost:3080  |  建议投屏手机展示效果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57575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适老化设计细节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B2"/>
                </a:solidFill>
              </a:rPr>
              <a:t>以老年用户为中心的每一个细节决策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69748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16736"/>
            <a:ext cx="2514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视觉适老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920240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" y="1810512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最小字号 18sp，标题 24-32sp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" y="2468880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主色橙色 #FF6D00，高对比度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236976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" y="3127248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WCAG AA 对比度标准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895344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" y="3785615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关键操作按钮 ≥ 56dp 高度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280160"/>
            <a:ext cx="269748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316736"/>
            <a:ext cx="2514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认知减负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69164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83280" y="1920240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1810512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单屏单任务，去除多余信息</a:t>
            </a:r>
          </a:p>
        </p:txBody>
      </p:sp>
      <p:sp>
        <p:nvSpPr>
          <p:cNvPr id="22" name="Oval 21"/>
          <p:cNvSpPr/>
          <p:nvPr/>
        </p:nvSpPr>
        <p:spPr>
          <a:xfrm>
            <a:off x="3383280" y="2578608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2468880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步骤线性引导，不分叉</a:t>
            </a:r>
          </a:p>
        </p:txBody>
      </p:sp>
      <p:sp>
        <p:nvSpPr>
          <p:cNvPr id="24" name="Oval 23"/>
          <p:cNvSpPr/>
          <p:nvPr/>
        </p:nvSpPr>
        <p:spPr>
          <a:xfrm>
            <a:off x="3383280" y="3236976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38728" y="3127248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错误提示用大字+语音双播报</a:t>
            </a:r>
          </a:p>
        </p:txBody>
      </p:sp>
      <p:sp>
        <p:nvSpPr>
          <p:cNvPr id="26" name="Oval 25"/>
          <p:cNvSpPr/>
          <p:nvPr/>
        </p:nvSpPr>
        <p:spPr>
          <a:xfrm>
            <a:off x="3383280" y="3895344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8728" y="3785615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「后退」随时可用，无惩罚机制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280160"/>
            <a:ext cx="269748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316736"/>
            <a:ext cx="2514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信任建立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69164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09360" y="1920240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1810512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代理操作全程可见、可暂停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2578608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2468880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草稿箱：任何时候可以中断续填</a:t>
            </a:r>
          </a:p>
        </p:txBody>
      </p:sp>
      <p:sp>
        <p:nvSpPr>
          <p:cNvPr id="35" name="Oval 34"/>
          <p:cNvSpPr/>
          <p:nvPr/>
        </p:nvSpPr>
        <p:spPr>
          <a:xfrm>
            <a:off x="6309360" y="3236976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3127248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授权卡片明确展示将做什么</a:t>
            </a:r>
          </a:p>
        </p:txBody>
      </p:sp>
      <p:sp>
        <p:nvSpPr>
          <p:cNvPr id="37" name="Oval 36"/>
          <p:cNvSpPr/>
          <p:nvPr/>
        </p:nvSpPr>
        <p:spPr>
          <a:xfrm>
            <a:off x="6309360" y="3895344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3785615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「不授权」始终是默认安全态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1280160"/>
            <a:ext cx="269748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1316736"/>
            <a:ext cx="2514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运动辅助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169164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35440" y="1920240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90888" y="1810512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大触控区域防误触</a:t>
            </a:r>
          </a:p>
        </p:txBody>
      </p:sp>
      <p:sp>
        <p:nvSpPr>
          <p:cNvPr id="44" name="Oval 43"/>
          <p:cNvSpPr/>
          <p:nvPr/>
        </p:nvSpPr>
        <p:spPr>
          <a:xfrm>
            <a:off x="9235440" y="2578608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90888" y="2468880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语音替代复杂文字输入</a:t>
            </a:r>
          </a:p>
        </p:txBody>
      </p:sp>
      <p:sp>
        <p:nvSpPr>
          <p:cNvPr id="46" name="Oval 45"/>
          <p:cNvSpPr/>
          <p:nvPr/>
        </p:nvSpPr>
        <p:spPr>
          <a:xfrm>
            <a:off x="9235440" y="3236976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90888" y="3127248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刷脸替代密码记忆</a:t>
            </a:r>
          </a:p>
        </p:txBody>
      </p:sp>
      <p:sp>
        <p:nvSpPr>
          <p:cNvPr id="48" name="Oval 47"/>
          <p:cNvSpPr/>
          <p:nvPr/>
        </p:nvSpPr>
        <p:spPr>
          <a:xfrm>
            <a:off x="9235440" y="3895344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90888" y="3785615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震动反馈确认关键操作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57575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4大政务场景覆盖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B2"/>
                </a:solidFill>
              </a:rPr>
              <a:t>从登录到查询，完整的老年用户政务体验链路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697480" cy="5029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98448"/>
            <a:ext cx="25146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场景一
登录认证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26974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1051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57575"/>
                </a:solidFill>
              </a:rPr>
              <a:t>关键特性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322576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" y="2212848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验证码登录（大字键盘）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980944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" y="2871215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人脸识别登录（MediaPipe）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639311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" y="3529583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记住登录态，减少重复操作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440680"/>
            <a:ext cx="2697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553212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</a:rPr>
              <a:t>截图区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280160"/>
            <a:ext cx="2697480" cy="502920"/>
          </a:xfrm>
          <a:prstGeom prst="rect">
            <a:avLst/>
          </a:prstGeom>
          <a:solidFill>
            <a:srgbClr val="E6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298448"/>
            <a:ext cx="25146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场景二
医保缴费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17830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1783080"/>
            <a:ext cx="26974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181051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57575"/>
                </a:solidFill>
              </a:rPr>
              <a:t>关键特性</a:t>
            </a:r>
          </a:p>
        </p:txBody>
      </p:sp>
      <p:sp>
        <p:nvSpPr>
          <p:cNvPr id="24" name="Oval 23"/>
          <p:cNvSpPr/>
          <p:nvPr/>
        </p:nvSpPr>
        <p:spPr>
          <a:xfrm>
            <a:off x="3383280" y="2322576"/>
            <a:ext cx="91440" cy="91440"/>
          </a:xfrm>
          <a:prstGeom prst="ellipse">
            <a:avLst/>
          </a:prstGeom>
          <a:solidFill>
            <a:srgbClr val="E6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38728" y="2212848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语音说出需求自动跳转</a:t>
            </a:r>
          </a:p>
        </p:txBody>
      </p:sp>
      <p:sp>
        <p:nvSpPr>
          <p:cNvPr id="26" name="Oval 25"/>
          <p:cNvSpPr/>
          <p:nvPr/>
        </p:nvSpPr>
        <p:spPr>
          <a:xfrm>
            <a:off x="3383280" y="2980944"/>
            <a:ext cx="91440" cy="91440"/>
          </a:xfrm>
          <a:prstGeom prst="ellipse">
            <a:avLst/>
          </a:prstGeom>
          <a:solidFill>
            <a:srgbClr val="E6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8728" y="2871215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代理逐字段填写表单</a:t>
            </a:r>
          </a:p>
        </p:txBody>
      </p:sp>
      <p:sp>
        <p:nvSpPr>
          <p:cNvPr id="28" name="Oval 27"/>
          <p:cNvSpPr/>
          <p:nvPr/>
        </p:nvSpPr>
        <p:spPr>
          <a:xfrm>
            <a:off x="3383280" y="3639311"/>
            <a:ext cx="91440" cy="91440"/>
          </a:xfrm>
          <a:prstGeom prst="ellipse">
            <a:avLst/>
          </a:prstGeom>
          <a:solidFill>
            <a:srgbClr val="E6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38728" y="3529583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金额确认卡片防误操作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5440680"/>
            <a:ext cx="2697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553212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</a:rPr>
              <a:t>截图区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1280160"/>
            <a:ext cx="26974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298448"/>
            <a:ext cx="25146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场景三
社保查询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7830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1783080"/>
            <a:ext cx="26974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181051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57575"/>
                </a:solidFill>
              </a:rPr>
              <a:t>关键特性</a:t>
            </a:r>
          </a:p>
        </p:txBody>
      </p:sp>
      <p:sp>
        <p:nvSpPr>
          <p:cNvPr id="37" name="Oval 36"/>
          <p:cNvSpPr/>
          <p:nvPr/>
        </p:nvSpPr>
        <p:spPr>
          <a:xfrm>
            <a:off x="6309360" y="2322576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2212848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余额/记录大字展示</a:t>
            </a:r>
          </a:p>
        </p:txBody>
      </p:sp>
      <p:sp>
        <p:nvSpPr>
          <p:cNvPr id="39" name="Oval 38"/>
          <p:cNvSpPr/>
          <p:nvPr/>
        </p:nvSpPr>
        <p:spPr>
          <a:xfrm>
            <a:off x="6309360" y="2980944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8" y="2871215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语音播报查询结果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3639311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8" y="3529583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历史记录时间轴呈现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5440680"/>
            <a:ext cx="2697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553212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</a:rPr>
              <a:t>截图区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1280160"/>
            <a:ext cx="269748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1298448"/>
            <a:ext cx="25146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场景四
政务公告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17830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98280" y="1783080"/>
            <a:ext cx="269748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181051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57575"/>
                </a:solidFill>
              </a:rPr>
              <a:t>关键特性</a:t>
            </a:r>
          </a:p>
        </p:txBody>
      </p:sp>
      <p:sp>
        <p:nvSpPr>
          <p:cNvPr id="50" name="Oval 49"/>
          <p:cNvSpPr/>
          <p:nvPr/>
        </p:nvSpPr>
        <p:spPr>
          <a:xfrm>
            <a:off x="9235440" y="2322576"/>
            <a:ext cx="91440" cy="914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90888" y="2212848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字号动态调节（A-/A+）</a:t>
            </a:r>
          </a:p>
        </p:txBody>
      </p:sp>
      <p:sp>
        <p:nvSpPr>
          <p:cNvPr id="52" name="Oval 51"/>
          <p:cNvSpPr/>
          <p:nvPr/>
        </p:nvSpPr>
        <p:spPr>
          <a:xfrm>
            <a:off x="9235440" y="2980944"/>
            <a:ext cx="91440" cy="914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90888" y="2871215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朗读按钮全文语音播报</a:t>
            </a:r>
          </a:p>
        </p:txBody>
      </p:sp>
      <p:sp>
        <p:nvSpPr>
          <p:cNvPr id="54" name="Oval 53"/>
          <p:cNvSpPr/>
          <p:nvPr/>
        </p:nvSpPr>
        <p:spPr>
          <a:xfrm>
            <a:off x="9235440" y="3639311"/>
            <a:ext cx="91440" cy="914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90888" y="3529583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重要通知红点角标提醒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98280" y="5440680"/>
            <a:ext cx="2697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553212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</a:rPr>
              <a:t>截图区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57575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B2"/>
                </a:solidFill>
              </a:rPr>
              <a:t>Flutter Web + FastAPI + DeepSeek-V3 + 讯飞 + MediaPipe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383280" cy="4572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167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Flutter Web 前端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3383280" cy="2286000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长辈版 UI（17页面）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94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AgentElementRegistry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7004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AgentFab 悬浮助手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906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MediaPipe 本地人脸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1129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讯飞 WebSDK 语音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331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D00"/>
                </a:solidFill>
              </a:rPr>
              <a:t>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788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</a:rPr>
              <a:t>WebSocket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1280160"/>
            <a:ext cx="33832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3167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FastAPI 后端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1737360"/>
            <a:ext cx="338328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8288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Agno Agent 框架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2494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DeepSeek-V3 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67004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WebSocket 状态机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0906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三级权限矩阵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51129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草稿箱管理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D0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1280160"/>
            <a:ext cx="338328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DeepSeek-V3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1691639"/>
            <a:ext cx="3383280" cy="36576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意图理解 + 推理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194560"/>
            <a:ext cx="338328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22402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讯飞 ASR+TTS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2606040"/>
            <a:ext cx="3383280" cy="36576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26517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语音识别+合成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3108960"/>
            <a:ext cx="3383280" cy="411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31546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MediaPipe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3520440"/>
            <a:ext cx="3383280" cy="36576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5661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本地人脸检测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51960"/>
            <a:ext cx="11430000" cy="38404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29768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工程安全亮点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70916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确定性操作物理隔离（代码层永不注册为工具，提示词注入无效）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0932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权限状态随 WebSocket 会话消亡，不持久化，不泄漏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7725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草稿箱 IndexedDB 本地持久化，中途可续填，随时可撤销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57575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成果总结与学术贡献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B2"/>
                </a:solidFill>
              </a:rPr>
              <a:t>三项创新贡献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566160" cy="38404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1673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贡献一：设计框架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64208"/>
            <a:ext cx="3566160" cy="475488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0078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12121"/>
                </a:solidFill>
              </a:rPr>
              <a:t>受控响应型代理框架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9696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2340864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31136"/>
            <a:ext cx="3182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三原则固化为架构约束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163824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54096"/>
            <a:ext cx="3182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L1/L2/L3 分级授权矩阵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986784"/>
            <a:ext cx="91440" cy="914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877056"/>
            <a:ext cx="3182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信任保障从对话约定
升级为可验证工程性质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280160"/>
            <a:ext cx="356616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31673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贡献二：方法论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664208"/>
            <a:ext cx="3566160" cy="475488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70078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12121"/>
                </a:solidFill>
              </a:rPr>
              <a:t>多模态冗余互补方法论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139696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43400" y="2340864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2231136"/>
            <a:ext cx="3182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语音·视觉·触控三模态
时序对齐</a:t>
            </a:r>
          </a:p>
        </p:txBody>
      </p:sp>
      <p:sp>
        <p:nvSpPr>
          <p:cNvPr id="24" name="Oval 23"/>
          <p:cNvSpPr/>
          <p:nvPr/>
        </p:nvSpPr>
        <p:spPr>
          <a:xfrm>
            <a:off x="4343400" y="3163824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3054096"/>
            <a:ext cx="3182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任一感官退化不影响使用</a:t>
            </a:r>
          </a:p>
        </p:txBody>
      </p:sp>
      <p:sp>
        <p:nvSpPr>
          <p:cNvPr id="26" name="Oval 25"/>
          <p:cNvSpPr/>
          <p:nvPr/>
        </p:nvSpPr>
        <p:spPr>
          <a:xfrm>
            <a:off x="4343400" y="3986784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877056"/>
            <a:ext cx="3182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适老化设计的工程化路径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280160"/>
            <a:ext cx="35661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31673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贡献三：范式路径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664208"/>
            <a:ext cx="3566160" cy="475488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170078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12121"/>
                </a:solidFill>
              </a:rPr>
              <a:t>协助服务范式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2139696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83880" y="2340864"/>
            <a:ext cx="91440" cy="914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2231136"/>
            <a:ext cx="3182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政务大厅协助模式
数字化复刻</a:t>
            </a:r>
          </a:p>
        </p:txBody>
      </p:sp>
      <p:sp>
        <p:nvSpPr>
          <p:cNvPr id="35" name="Oval 34"/>
          <p:cNvSpPr/>
          <p:nvPr/>
        </p:nvSpPr>
        <p:spPr>
          <a:xfrm>
            <a:off x="8183880" y="3163824"/>
            <a:ext cx="91440" cy="914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8" y="3054096"/>
            <a:ext cx="3182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可推广至医疗/金融/生活</a:t>
            </a:r>
          </a:p>
        </p:txBody>
      </p:sp>
      <p:sp>
        <p:nvSpPr>
          <p:cNvPr id="37" name="Oval 36"/>
          <p:cNvSpPr/>
          <p:nvPr/>
        </p:nvSpPr>
        <p:spPr>
          <a:xfrm>
            <a:off x="8183880" y="3986784"/>
            <a:ext cx="91440" cy="914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3877056"/>
            <a:ext cx="3182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协助而非替代，透明不黑箱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532120"/>
            <a:ext cx="11430000" cy="5029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961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57575"/>
                </a:solidFill>
              </a:rPr>
              <a:t>可用性测试计划：5-8位老年用户 · 4场景任务 · 任务完成率 + SUS量表 + 信任感评分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57575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0" y="1371600"/>
            <a:ext cx="5486400" cy="5486400"/>
          </a:xfrm>
          <a:prstGeom prst="ellipse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2971800"/>
            <a:ext cx="2286000" cy="2286000"/>
          </a:xfrm>
          <a:prstGeom prst="ellipse">
            <a:avLst/>
          </a:prstGeom>
          <a:solidFill>
            <a:srgbClr val="FF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14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</a:rPr>
              <a:t>谢谢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代理是助手，用户始终是主角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协助而非替代，透明而非黑箱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114800"/>
            <a:ext cx="5486400" cy="4572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E0B2"/>
                </a:solidFill>
              </a:rPr>
              <a:t>欢迎现场演示原型 · http://localhost:3080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B2"/>
                </a:solidFill>
              </a:rPr>
              <a:t>信息服务APP的适老化设计与多模态交互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